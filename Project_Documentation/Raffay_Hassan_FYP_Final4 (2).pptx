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2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8676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A55A8-0DAF-E1E2-39DA-4222594E0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56A121-E68E-29C9-A451-9FFF4C11D7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6D8879-A341-282D-B3BE-1D4D56B95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1FEE45-B8DE-0E72-7485-62CF3DF061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183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274320" cy="50794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" name="Image 0" descr="/home/claude/imgs/rcC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8419" y="401581"/>
            <a:ext cx="1834955" cy="244660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65760"/>
            <a:ext cx="44805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Sensor-Driven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Digital Twin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for Collision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Prevention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2971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B4D8"/>
                </a:solidFill>
              </a:rPr>
              <a:t>in Autonomous Systems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3401568"/>
            <a:ext cx="2926080" cy="3657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457200" y="3493008"/>
            <a:ext cx="44805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Raffay Hassan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AFC2"/>
                </a:solidFill>
              </a:rPr>
              <a:t>M00944822  |  BEng Computer Systems Engineering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AFC2"/>
                </a:solidFill>
              </a:rPr>
              <a:t>Middlesex University London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AFC2"/>
                </a:solidFill>
              </a:rPr>
              <a:t>Supervisor: Dr Purav Shah  |  March 2026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4572000"/>
            <a:ext cx="1335024" cy="201168"/>
          </a:xfrm>
          <a:prstGeom prst="rect">
            <a:avLst/>
          </a:prstGeom>
          <a:solidFill>
            <a:srgbClr val="065A82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57200" y="4572000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Sensor Fusion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901952" y="4572000"/>
            <a:ext cx="1335024" cy="201168"/>
          </a:xfrm>
          <a:prstGeom prst="rect">
            <a:avLst/>
          </a:prstGeom>
          <a:solidFill>
            <a:srgbClr val="065A82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1901952" y="4572000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Digital Twin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346704" y="4572000"/>
            <a:ext cx="1335024" cy="201168"/>
          </a:xfrm>
          <a:prstGeom prst="rect">
            <a:avLst/>
          </a:prstGeom>
          <a:solidFill>
            <a:srgbClr val="065A82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3346704" y="4572000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LiDAR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57200" y="4828032"/>
            <a:ext cx="1335024" cy="201168"/>
          </a:xfrm>
          <a:prstGeom prst="rect">
            <a:avLst/>
          </a:prstGeom>
          <a:solidFill>
            <a:srgbClr val="065A82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457200" y="4828032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Radar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1901952" y="4828032"/>
            <a:ext cx="1335024" cy="201168"/>
          </a:xfrm>
          <a:prstGeom prst="rect">
            <a:avLst/>
          </a:prstGeom>
          <a:solidFill>
            <a:srgbClr val="065A82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1901952" y="4828032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YOLOv8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346704" y="4828032"/>
            <a:ext cx="1335024" cy="201168"/>
          </a:xfrm>
          <a:prstGeom prst="rect">
            <a:avLst/>
          </a:prstGeom>
          <a:solidFill>
            <a:srgbClr val="065A82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3346704" y="4828032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TTC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732520" y="489204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AFC2"/>
                </a:solidFill>
              </a:rPr>
              <a:t>1</a:t>
            </a:r>
            <a:endParaRPr lang="en-US" sz="8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5486AF8-BE1A-0763-314A-7B4B44038B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927904"/>
            <a:ext cx="3304084" cy="1141784"/>
          </a:xfrm>
          <a:prstGeom prst="rect">
            <a:avLst/>
          </a:prstGeom>
        </p:spPr>
      </p:pic>
      <p:pic>
        <p:nvPicPr>
          <p:cNvPr id="23" name="Image 0" descr="/home/claude/imgs/fusionFull.jpg">
            <a:extLst>
              <a:ext uri="{FF2B5EF4-FFF2-40B4-BE49-F238E27FC236}">
                <a16:creationId xmlns:a16="http://schemas.microsoft.com/office/drawing/2014/main" id="{26C71416-D006-5204-FFA0-CC15B844A9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9361" y="662940"/>
            <a:ext cx="2873159" cy="21602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749808"/>
            <a:ext cx="45720" cy="3108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A7EA4"/>
                </a:solidFill>
              </a:rPr>
              <a:t>INTRODUCTION &amp; MOTIVATION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</a:rPr>
              <a:t>Why This Project Exists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572768"/>
            <a:ext cx="4315968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11480" y="1572768"/>
            <a:ext cx="54864" cy="84124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66928" y="163677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Detection Is Not Enough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1874520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C4A6E"/>
                </a:solidFill>
              </a:rPr>
              <a:t>Identifying an obstacle does not indicate danger. Distance and relative speed must be assessed together  safety systems need predictive risk assessment, not just detection.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505456"/>
            <a:ext cx="4315968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11480" y="2505456"/>
            <a:ext cx="54864" cy="84124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66928" y="256946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Digital Twins on Embedded Hardware Are Underexplored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807208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C4A6E"/>
                </a:solidFill>
              </a:rPr>
              <a:t>Most digital twin research targets cloud or infrastructure scale. Implementing DT concepts on edge-constrained embedded hardware with real-time budgets remains unaddressed.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438144"/>
            <a:ext cx="4315968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11480" y="3438144"/>
            <a:ext cx="54864" cy="8412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66928" y="350215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The Simulation-to-Real Gap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739896"/>
            <a:ext cx="4069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950" dirty="0">
                <a:solidFill>
                  <a:srgbClr val="2C4A6E"/>
                </a:solidFill>
              </a:rPr>
              <a:t>Simulation allows safe algorithm development but cannot replicate real sensor noise or physical constraints. Validating on actual hardware is necessary and underperformed.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919472" y="1572768"/>
            <a:ext cx="3822192" cy="1024128"/>
          </a:xfrm>
          <a:prstGeom prst="rect">
            <a:avLst/>
          </a:prstGeom>
          <a:solidFill>
            <a:srgbClr val="0D1B2A"/>
          </a:solidFill>
          <a:ln w="1016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029200" y="162763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This Project's Response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1883664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A sensor-driven digital twin for predictive collision detection  camera, LiDAR, and radar on embedded hardware. TTC is the core safety metric. Validated in CARLA then on real hardware.</a:t>
            </a:r>
            <a:endParaRPr lang="en-US" sz="1000" dirty="0"/>
          </a:p>
        </p:txBody>
      </p:sp>
      <p:pic>
        <p:nvPicPr>
          <p:cNvPr id="20" name="Image 0" descr="/home/claude/imgs/fusion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8216" y="2706624"/>
            <a:ext cx="3064703" cy="230428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732520" y="489204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FA5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Aims &amp;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694944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66928" y="777240"/>
            <a:ext cx="80010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Project Aim  </a:t>
            </a:r>
            <a:r>
              <a:rPr lang="en-US" sz="1200" dirty="0">
                <a:solidFill>
                  <a:srgbClr val="FFFFFF"/>
                </a:solidFill>
              </a:rPr>
              <a:t>Design and implement a sensor-driven digital twin capable of predicting collisions using multi-sensor perception and TTC analysis on embedded platforms.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600200"/>
            <a:ext cx="2697480" cy="1143000"/>
          </a:xfrm>
          <a:prstGeom prst="rect">
            <a:avLst/>
          </a:prstGeom>
          <a:solidFill>
            <a:srgbClr val="0D2137"/>
          </a:solidFill>
          <a:ln w="6350">
            <a:solidFill>
              <a:srgbClr val="4A6FA5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16733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947672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Develop a CARLA simulation environment to model vehicle behaviour and collision scenarios, validating the perception pipeline before hardware deployment.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1600200"/>
            <a:ext cx="2697480" cy="1143000"/>
          </a:xfrm>
          <a:prstGeom prst="rect">
            <a:avLst/>
          </a:prstGeom>
          <a:solidFill>
            <a:srgbClr val="0D2137"/>
          </a:solidFill>
          <a:ln w="6350">
            <a:solidFill>
              <a:srgbClr val="4A6FA5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310128" y="16733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10128" y="1947672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Implement multi-sensor perception: camera (YOLOv8n), LiDAR distance measurement (LD06), and radar velocity estimation (BGT60TR13C).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25896" y="1600200"/>
            <a:ext cx="2697480" cy="1143000"/>
          </a:xfrm>
          <a:prstGeom prst="rect">
            <a:avLst/>
          </a:prstGeom>
          <a:solidFill>
            <a:srgbClr val="0D2137"/>
          </a:solidFill>
          <a:ln w="6350">
            <a:solidFill>
              <a:srgbClr val="4A6FA5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117336" y="16733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17336" y="1947672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Design a digital twin world model that continuously updates with obstacle positions, distances, velocities, and TTC risk values.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10512" y="2852928"/>
            <a:ext cx="2697480" cy="1143000"/>
          </a:xfrm>
          <a:prstGeom prst="rect">
            <a:avLst/>
          </a:prstGeom>
          <a:solidFill>
            <a:srgbClr val="0D2137"/>
          </a:solidFill>
          <a:ln w="6350">
            <a:solidFill>
              <a:srgbClr val="4A6FA5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1901952" y="29260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901952" y="32004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Implement Time-To-Collision computation using fused sensor measurements as the primary predictive safety metric.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2852928"/>
            <a:ext cx="2697480" cy="1143000"/>
          </a:xfrm>
          <a:prstGeom prst="rect">
            <a:avLst/>
          </a:prstGeom>
          <a:solidFill>
            <a:srgbClr val="0D2137"/>
          </a:solidFill>
          <a:ln w="6350">
            <a:solidFill>
              <a:srgbClr val="4A6FA5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709160" y="292608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</a:rPr>
              <a:t>05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09160" y="32004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EAFC2"/>
                </a:solidFill>
              </a:rPr>
              <a:t>Deploy on Jetson Orin Nano + Raspberry Pi 5 and evaluate performance across simulation and real-world experiments.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732520" y="489204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AFC2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749808"/>
            <a:ext cx="45720" cy="31089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A7EA4"/>
                </a:solidFill>
              </a:rPr>
              <a:t>LITERATURE REVIEW &amp; BACKGROUND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</a:rPr>
              <a:t>What Already Exists  And What's Missing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572768"/>
            <a:ext cx="54864" cy="58521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66928" y="160934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Camera / Deep Learning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84708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4A6E"/>
                </a:solidFill>
              </a:rPr>
              <a:t>Strong classification (YOLO, Faster R-CNN). Cannot directly measure distance. Degrades in low light, glare and occlusion. (Grigorescu et al., 2020)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359152"/>
            <a:ext cx="54864" cy="58521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66928" y="239572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LiDAR-Only Systems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63347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4A6E"/>
                </a:solidFill>
              </a:rPr>
              <a:t>Accurate 3D geometry. Expensive, computationally heavy, vulnerable to reflective surfaces and rain. No semantic understanding of object type.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3145536"/>
            <a:ext cx="54864" cy="58521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66928" y="318211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Simulation-Only Research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341985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4A6E"/>
                </a:solidFill>
              </a:rPr>
              <a:t>CARLA enables safe algorithm development but cannot replicate real sensor noise or physical constraints. (Dosovitskiy et al., 2017)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931920"/>
            <a:ext cx="54864" cy="58521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66928" y="3968496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EA4"/>
                </a:solidFill>
              </a:rPr>
              <a:t>Research Gap  This Project Addresses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420624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C4A6E"/>
                </a:solidFill>
              </a:rPr>
              <a:t>Lightweight embedded architecture fusing all three modalities with a live digital twin and TTC-based predictive risk, validated on real hardware. (Grieves &amp; Vickers, 2017)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157276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Industry Comparison (from report Table 1)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883664"/>
          <a:ext cx="3977640" cy="178612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System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Sensors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Focus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Waymo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Cam+LiDAR+Radar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Full autonomy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Tesla Vision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Camera only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End-to-end neural net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Mobileye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Cam+Radar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Driver assistance (ADAS)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This Project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Cam+LiDAR+Radar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D1B2A"/>
                          </a:solidFill>
                        </a:rPr>
                        <a:t>Predictive TTC + Digital Twin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11480" y="484632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EAFC2"/>
                </a:solidFill>
              </a:rPr>
              <a:t>Key refs: Grigorescu et al. (2020); Badue et al. (2021); Lefèvre et al. (2014); Grieves &amp; Vickers (2017)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8732520" y="489204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FA5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Is the Digital Twin in This Project?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86384"/>
            <a:ext cx="4023360" cy="4187952"/>
          </a:xfrm>
          <a:prstGeom prst="rect">
            <a:avLst/>
          </a:prstGeom>
          <a:solidFill>
            <a:srgbClr val="100D1B"/>
          </a:solidFill>
          <a:ln w="1016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11480" y="786384"/>
            <a:ext cx="4023360" cy="36576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502920" y="7863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Common Misconception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43584"/>
            <a:ext cx="374904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8EAFC2"/>
                </a:solidFill>
              </a:rPr>
              <a:t>CARLA = Digital Twin?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EAFC2"/>
                </a:solidFill>
              </a:rPr>
              <a:t>CARLA is a simulation engine. It generates scenarios and visualises environments. It does not maintain an independent sensor-driven persistent world model.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4A6FA5"/>
                </a:solidFill>
              </a:rPr>
              <a:t>A simulator produces data. The Digital Twin interprets it.</a:t>
            </a:r>
            <a:endParaRPr lang="en-US" sz="1100" dirty="0"/>
          </a:p>
        </p:txBody>
      </p:sp>
      <p:pic>
        <p:nvPicPr>
          <p:cNvPr id="8" name="Image 0" descr="/home/claude/imgs/carlaDri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416" y="3090672"/>
            <a:ext cx="2949489" cy="175564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09160" y="786384"/>
            <a:ext cx="4023360" cy="4187952"/>
          </a:xfrm>
          <a:prstGeom prst="rect">
            <a:avLst/>
          </a:prstGeom>
          <a:solidFill>
            <a:srgbClr val="0D1F2D"/>
          </a:solidFill>
          <a:ln w="1016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709160" y="786384"/>
            <a:ext cx="4023360" cy="365760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4800600" y="7863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The Actual Digital Twin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28032" y="1243584"/>
            <a:ext cx="3767328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Continuously updated internal world model  a software layer, not a separate app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Stores: obstacle positions, distances, velocities, TTC values, confidence scores, timestamps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Hazard memory persists across frames  not just frame-by-frame reactive detection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Updates identically from real sensors OR CARLA simulation data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E8F4F8"/>
                </a:solidFill>
              </a:rPr>
              <a:t>Enables predictive TTC-based safety reasoning before a collision becomes unavoidable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28032" y="3749040"/>
            <a:ext cx="3767328" cy="1115568"/>
          </a:xfrm>
          <a:prstGeom prst="rect">
            <a:avLst/>
          </a:prstGeom>
          <a:solidFill>
            <a:srgbClr val="081420"/>
          </a:solidFill>
          <a:ln w="635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4919472" y="38039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AFC2"/>
                </a:solidFill>
              </a:rPr>
              <a:t>Sensors  →  Perception  →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19472" y="40782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Digital Twin  →  TTC Eval  →  Decision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19472" y="4389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EAFC2"/>
                </a:solidFill>
              </a:rPr>
              <a:t>Same architecture: CARLA data or real sensor data zero core logic change.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8732520" y="489204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AFC2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49AF12-CEA7-91BF-0FCF-DC391EC46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BFFAA6E-EEAD-7E07-F7CD-231FB2C6B259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78DAF8-8220-4AAD-CBFC-84225F494D89}"/>
              </a:ext>
            </a:extLst>
          </p:cNvPr>
          <p:cNvSpPr/>
          <p:nvPr/>
        </p:nvSpPr>
        <p:spPr>
          <a:xfrm>
            <a:off x="411480" y="1828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Is the Digital Twin in This Project?</a:t>
            </a:r>
            <a:endParaRPr lang="en-US" sz="2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83C32F6-1ACC-FFD6-9CE1-886FCF6532F7}"/>
              </a:ext>
            </a:extLst>
          </p:cNvPr>
          <p:cNvSpPr/>
          <p:nvPr/>
        </p:nvSpPr>
        <p:spPr>
          <a:xfrm>
            <a:off x="1177016" y="4555010"/>
            <a:ext cx="62964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i="1" dirty="0">
                <a:solidFill>
                  <a:srgbClr val="4A6FA5"/>
                </a:solidFill>
              </a:rPr>
              <a:t>A simulator produces data. The Digital Twin interprets it.</a:t>
            </a:r>
            <a:endParaRPr lang="en-US" sz="1100" dirty="0"/>
          </a:p>
        </p:txBody>
      </p:sp>
      <p:pic>
        <p:nvPicPr>
          <p:cNvPr id="8" name="Image 0" descr="/home/claude/imgs/carlaDriv.png">
            <a:extLst>
              <a:ext uri="{FF2B5EF4-FFF2-40B4-BE49-F238E27FC236}">
                <a16:creationId xmlns:a16="http://schemas.microsoft.com/office/drawing/2014/main" id="{85B3E58F-C93E-A1F0-F125-7CB3C0F51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016" y="825070"/>
            <a:ext cx="6296446" cy="3747884"/>
          </a:xfrm>
          <a:prstGeom prst="rect">
            <a:avLst/>
          </a:prstGeom>
        </p:spPr>
      </p:pic>
      <p:sp>
        <p:nvSpPr>
          <p:cNvPr id="17" name="Text 14">
            <a:extLst>
              <a:ext uri="{FF2B5EF4-FFF2-40B4-BE49-F238E27FC236}">
                <a16:creationId xmlns:a16="http://schemas.microsoft.com/office/drawing/2014/main" id="{2134063F-DAB7-37E0-67DB-581DF126DF16}"/>
              </a:ext>
            </a:extLst>
          </p:cNvPr>
          <p:cNvSpPr/>
          <p:nvPr/>
        </p:nvSpPr>
        <p:spPr>
          <a:xfrm>
            <a:off x="8732520" y="489204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AFC2"/>
                </a:solidFill>
              </a:rPr>
              <a:t>5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124854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2286000" cy="31089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1 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88920" y="74980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Phase 1: Simulation Pipeline Architecture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600200" cy="658368"/>
          </a:xfrm>
          <a:prstGeom prst="rect">
            <a:avLst/>
          </a:prstGeom>
          <a:solidFill>
            <a:srgbClr val="4A6FA5"/>
          </a:solidFill>
          <a:ln w="762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74320" y="140817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CARLA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Simulator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7373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E8F4F8"/>
                </a:solidFill>
              </a:rPr>
              <a:t>Town04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E8F4F8"/>
                </a:solidFill>
              </a:rPr>
              <a:t>Synchronous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74520" y="1691640"/>
            <a:ext cx="301752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121408" y="16276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011680" y="1371600"/>
            <a:ext cx="1600200" cy="658368"/>
          </a:xfrm>
          <a:prstGeom prst="rect">
            <a:avLst/>
          </a:prstGeom>
          <a:solidFill>
            <a:srgbClr val="065A82"/>
          </a:solidFill>
          <a:ln w="762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011680" y="140817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Sensor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Stack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17373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E8F4F8"/>
                </a:solidFill>
              </a:rPr>
              <a:t>LiDAR + Radar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E8F4F8"/>
                </a:solidFill>
              </a:rPr>
              <a:t>+ Camera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11880" y="1691640"/>
            <a:ext cx="301752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3858768" y="16276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49040" y="1371600"/>
            <a:ext cx="1600200" cy="658368"/>
          </a:xfrm>
          <a:prstGeom prst="rect">
            <a:avLst/>
          </a:prstGeom>
          <a:solidFill>
            <a:srgbClr val="0A7EA4"/>
          </a:solidFill>
          <a:ln w="762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3749040" y="140817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Sensor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Fusion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49040" y="17373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E8F4F8"/>
                </a:solidFill>
              </a:rPr>
              <a:t>Fused distance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E8F4F8"/>
                </a:solidFill>
              </a:rPr>
              <a:t>+ TTC compute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349240" y="1691640"/>
            <a:ext cx="301752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596128" y="16276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0" y="1371600"/>
            <a:ext cx="1600200" cy="658368"/>
          </a:xfrm>
          <a:prstGeom prst="rect">
            <a:avLst/>
          </a:prstGeom>
          <a:solidFill>
            <a:srgbClr val="065A82"/>
          </a:solidFill>
          <a:ln w="762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486400" y="140817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Machine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17373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E8F4F8"/>
                </a:solidFill>
              </a:rPr>
              <a:t>SAFE→WARNING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E8F4F8"/>
                </a:solidFill>
              </a:rPr>
              <a:t>→CRITICAL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086600" y="1691640"/>
            <a:ext cx="301752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7333488" y="16276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223760" y="1371600"/>
            <a:ext cx="1600200" cy="658368"/>
          </a:xfrm>
          <a:prstGeom prst="rect">
            <a:avLst/>
          </a:prstGeom>
          <a:solidFill>
            <a:srgbClr val="2C4A6E"/>
          </a:solidFill>
          <a:ln w="762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7223760" y="140817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Vehicle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Control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23760" y="17373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E8F4F8"/>
                </a:solidFill>
              </a:rPr>
              <a:t>Emergency brake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E8F4F8"/>
                </a:solidFill>
              </a:rPr>
              <a:t>Lane change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2304288"/>
            <a:ext cx="2834640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347472" y="2304288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Simulated LiDAR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7472" y="2633472"/>
            <a:ext cx="268833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950" dirty="0">
                <a:solidFill>
                  <a:srgbClr val="8EAFC2"/>
                </a:solidFill>
              </a:rPr>
              <a:t>CARLA RayCastLidar sensor — forward cone</a:t>
            </a:r>
            <a:endParaRPr lang="en-US" sz="9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950" dirty="0">
                <a:solidFill>
                  <a:srgbClr val="8EAFC2"/>
                </a:solidFill>
              </a:rPr>
              <a:t>Point cloud streamed per simulation tick</a:t>
            </a:r>
            <a:endParaRPr lang="en-US" sz="9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950" dirty="0">
                <a:solidFill>
                  <a:srgbClr val="8EAFC2"/>
                </a:solidFill>
              </a:rPr>
              <a:t>Min distance + zone analysis applied in software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18688" y="2304288"/>
            <a:ext cx="2834640" cy="292608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3291840" y="2304288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Simulated Radar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91840" y="2633472"/>
            <a:ext cx="268833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950" dirty="0">
                <a:solidFill>
                  <a:srgbClr val="8EAFC2"/>
                </a:solidFill>
              </a:rPr>
              <a:t>CARLA Radar sensor  range + velocity output</a:t>
            </a:r>
            <a:endParaRPr lang="en-US" sz="9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950" dirty="0">
                <a:solidFill>
                  <a:srgbClr val="8EAFC2"/>
                </a:solidFill>
              </a:rPr>
              <a:t>Doppler-based approach detection</a:t>
            </a:r>
            <a:endParaRPr lang="en-US" sz="9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950" dirty="0">
                <a:solidFill>
                  <a:srgbClr val="8EAFC2"/>
                </a:solidFill>
              </a:rPr>
              <a:t>TTC computed: IMMINENT &lt;2s, WARNING &lt;5s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53912" y="2304288"/>
            <a:ext cx="2834640" cy="292608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6227064" y="2304288"/>
            <a:ext cx="2688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Simulated Camera + YOLOv8n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27064" y="2633472"/>
            <a:ext cx="268833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950" dirty="0">
                <a:solidFill>
                  <a:srgbClr val="8EAFC2"/>
                </a:solidFill>
              </a:rPr>
              <a:t>CARLA RGB camera  frame per tick</a:t>
            </a:r>
            <a:endParaRPr lang="en-US" sz="9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950" dirty="0">
                <a:solidFill>
                  <a:srgbClr val="8EAFC2"/>
                </a:solidFill>
              </a:rPr>
              <a:t>YOLOv8n inference: 114 FPS average</a:t>
            </a:r>
            <a:endParaRPr lang="en-US" sz="95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950" dirty="0">
                <a:solidFill>
                  <a:srgbClr val="8EAFC2"/>
                </a:solidFill>
              </a:rPr>
              <a:t>Lane-relevance filtering  ego lane only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" y="3547872"/>
            <a:ext cx="8595360" cy="621792"/>
          </a:xfrm>
          <a:prstGeom prst="rect">
            <a:avLst/>
          </a:prstGeom>
          <a:solidFill>
            <a:srgbClr val="0D2137"/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384048" y="35661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Digital Twin World Model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84048" y="3803904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8F4F8"/>
                </a:solidFill>
              </a:rPr>
              <a:t>Continuously updated from all sensors each tick  obstacle positions, fused distances, TTC risk values, safety state, timestamps. Core DT logic identical to Phase 2.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242816"/>
            <a:ext cx="8595360" cy="713232"/>
          </a:xfrm>
          <a:prstGeom prst="rect">
            <a:avLst/>
          </a:prstGeom>
          <a:solidFill>
            <a:srgbClr val="0A1520"/>
          </a:solidFill>
          <a:ln w="635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384048" y="427939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Data Logged Per Run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84048" y="451713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EAFC2"/>
                </a:solidFill>
              </a:rPr>
              <a:t>radar_data.csv  •  lidar_data.csv  •  vehicle_state.csv  •  sensor_fusion.csv  •  LiDAR .ply point clouds  •  camera frames (.jpg)  •  output video (.mp4)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732520" y="489204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AFC2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749808"/>
            <a:ext cx="2286000" cy="31089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1  SIMULATION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88920" y="74980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CARLA Simulation Setup &amp; Results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416052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4160520" cy="27432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Scenario Design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397764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000" dirty="0">
                <a:solidFill>
                  <a:srgbClr val="2C4A6E"/>
                </a:solidFill>
              </a:rPr>
              <a:t>Town04  long straight, deterministic + repeatable</a:t>
            </a:r>
            <a:endParaRPr lang="en-US" sz="10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000" dirty="0">
                <a:solidFill>
                  <a:srgbClr val="2C4A6E"/>
                </a:solidFill>
              </a:rPr>
              <a:t>Stationary obstacle ~80m ahead, lane-aligned</a:t>
            </a:r>
            <a:endParaRPr lang="en-US" sz="10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000" dirty="0">
                <a:solidFill>
                  <a:srgbClr val="2C4A6E"/>
                </a:solidFill>
              </a:rPr>
              <a:t>Synchronous mode, fixed timestep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240280"/>
            <a:ext cx="416052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0E8F2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11480" y="2240280"/>
            <a:ext cx="4160520" cy="27432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Safety State Machine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542032"/>
            <a:ext cx="397764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000" dirty="0">
                <a:solidFill>
                  <a:srgbClr val="2C4A6E"/>
                </a:solidFill>
              </a:rPr>
              <a:t>SAFE → WARNING → CRITICAL (TTC&lt;2s or dist&lt;8m)</a:t>
            </a:r>
            <a:endParaRPr lang="en-US" sz="1000" dirty="0"/>
          </a:p>
          <a:p>
            <a:pPr marL="342900" indent="-342900">
              <a:lnSpc>
                <a:spcPct val="122000"/>
              </a:lnSpc>
              <a:buSzPct val="100000"/>
              <a:buChar char="•"/>
            </a:pPr>
            <a:r>
              <a:rPr lang="en-US" sz="1000" dirty="0">
                <a:solidFill>
                  <a:srgbClr val="2C4A6E"/>
                </a:solidFill>
              </a:rPr>
              <a:t>POST-STOP → LANE CHANGE → RESUME driving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127248"/>
            <a:ext cx="960120" cy="658368"/>
          </a:xfrm>
          <a:prstGeom prst="rect">
            <a:avLst/>
          </a:prstGeom>
          <a:solidFill>
            <a:srgbClr val="0D1B2A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11480" y="31272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B4D8"/>
                </a:solidFill>
              </a:rPr>
              <a:t>89%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11480" y="351129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FC2"/>
                </a:solidFill>
              </a:rPr>
              <a:t>SAFE state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435608" y="3127248"/>
            <a:ext cx="960120" cy="658368"/>
          </a:xfrm>
          <a:prstGeom prst="rect">
            <a:avLst/>
          </a:prstGeom>
          <a:solidFill>
            <a:srgbClr val="0D1B2A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1435608" y="31272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B4D8"/>
                </a:solidFill>
              </a:rPr>
              <a:t>8%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35608" y="351129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FC2"/>
                </a:solidFill>
              </a:rPr>
              <a:t>CRITICAL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459736" y="3127248"/>
            <a:ext cx="960120" cy="658368"/>
          </a:xfrm>
          <a:prstGeom prst="rect">
            <a:avLst/>
          </a:prstGeom>
          <a:solidFill>
            <a:srgbClr val="0D1B2A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2459736" y="31272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B4D8"/>
                </a:solidFill>
              </a:rPr>
              <a:t>&lt;2s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459736" y="351129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FC2"/>
                </a:solidFill>
              </a:rPr>
              <a:t>TTC trigger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83864" y="3127248"/>
            <a:ext cx="960120" cy="658368"/>
          </a:xfrm>
          <a:prstGeom prst="rect">
            <a:avLst/>
          </a:prstGeom>
          <a:solidFill>
            <a:srgbClr val="0D1B2A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483864" y="31272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B4D8"/>
                </a:solidFill>
              </a:rPr>
              <a:t>114 FPS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483864" y="351129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AFC2"/>
                </a:solidFill>
              </a:rPr>
              <a:t>YOLOv8n</a:t>
            </a:r>
            <a:endParaRPr lang="en-US" sz="850" dirty="0"/>
          </a:p>
        </p:txBody>
      </p:sp>
      <p:pic>
        <p:nvPicPr>
          <p:cNvPr id="25" name="Image 0" descr="/home/claude/imgs/carlaDri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294" y="1234440"/>
            <a:ext cx="3041660" cy="181051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681728" y="3063240"/>
            <a:ext cx="405079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2C4A6E"/>
                </a:solidFill>
              </a:rPr>
              <a:t>Clear conditions  DRIVING state</a:t>
            </a:r>
            <a:endParaRPr lang="en-US" sz="850" dirty="0"/>
          </a:p>
        </p:txBody>
      </p:sp>
      <p:pic>
        <p:nvPicPr>
          <p:cNvPr id="27" name="Image 1" descr="/home/claude/imgs/carlaLane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8149" y="3273552"/>
            <a:ext cx="3717950" cy="17373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681728" y="5029200"/>
            <a:ext cx="4050792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C4A6E"/>
                </a:solidFill>
              </a:rPr>
              <a:t>Night rain  LANE_CHANGE triggered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8732520" y="489204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FA5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749808"/>
            <a:ext cx="2286000" cy="31089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1  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88920" y="74980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CARLA Simulation  Analysis Results</a:t>
            </a:r>
            <a:endParaRPr lang="en-US" sz="2200" dirty="0"/>
          </a:p>
        </p:txBody>
      </p:sp>
      <p:pic>
        <p:nvPicPr>
          <p:cNvPr id="5" name="Image 0" descr="/home/claude/imgs/carla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2" y="1234440"/>
            <a:ext cx="3656137" cy="2176272"/>
          </a:xfrm>
          <a:prstGeom prst="rect">
            <a:avLst/>
          </a:prstGeom>
        </p:spPr>
      </p:pic>
      <p:pic>
        <p:nvPicPr>
          <p:cNvPr id="6" name="Image 1" descr="/home/claude/imgs/sensorCo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200" y="1234440"/>
            <a:ext cx="3525561" cy="21762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4904" y="4345510"/>
            <a:ext cx="20299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C4A6E"/>
                </a:solidFill>
              </a:rPr>
              <a:t>Rain  LANE_CHANGE</a:t>
            </a:r>
            <a:endParaRPr lang="en-US" sz="800" dirty="0"/>
          </a:p>
        </p:txBody>
      </p:sp>
      <p:pic>
        <p:nvPicPr>
          <p:cNvPr id="8" name="Image 2" descr="/home/claude/imgs/carlaLane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169" y="3639312"/>
            <a:ext cx="1604589" cy="7498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580985" y="4352544"/>
            <a:ext cx="20299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C4A6E"/>
                </a:solidFill>
              </a:rPr>
              <a:t>Rain  STRAIGHTENING</a:t>
            </a:r>
            <a:endParaRPr lang="en-US" sz="800" dirty="0"/>
          </a:p>
        </p:txBody>
      </p:sp>
      <p:pic>
        <p:nvPicPr>
          <p:cNvPr id="10" name="Image 3" descr="/home/claude/imgs/carlaStraigh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0441" y="3639312"/>
            <a:ext cx="1604589" cy="7498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64024" y="4352544"/>
            <a:ext cx="20299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C4A6E"/>
                </a:solidFill>
              </a:rPr>
              <a:t>Rain  RESUME</a:t>
            </a:r>
            <a:endParaRPr lang="en-US" sz="800" dirty="0"/>
          </a:p>
        </p:txBody>
      </p:sp>
      <p:pic>
        <p:nvPicPr>
          <p:cNvPr id="12" name="Image 4" descr="/home/claude/imgs/carlaResum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6713" y="3639312"/>
            <a:ext cx="1604589" cy="74980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922008" y="4359578"/>
            <a:ext cx="202996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2C4A6E"/>
                </a:solidFill>
              </a:rPr>
              <a:t>Night rain  DRIVING</a:t>
            </a:r>
            <a:endParaRPr lang="en-US" sz="800" dirty="0"/>
          </a:p>
        </p:txBody>
      </p:sp>
      <p:pic>
        <p:nvPicPr>
          <p:cNvPr id="14" name="Image 5" descr="/home/claude/imgs/carlaFul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67982" y="3639312"/>
            <a:ext cx="1574597" cy="749808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411480" y="4480560"/>
            <a:ext cx="8321040" cy="475488"/>
          </a:xfrm>
          <a:prstGeom prst="rect">
            <a:avLst/>
          </a:prstGeom>
          <a:solidFill>
            <a:srgbClr val="0D1B2A"/>
          </a:solidFill>
          <a:ln w="762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8"/>
          <p:cNvSpPr/>
          <p:nvPr/>
        </p:nvSpPr>
        <p:spPr>
          <a:xfrm>
            <a:off x="530352" y="448056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B4D8"/>
                </a:solidFill>
              </a:rPr>
              <a:t>Key Finding: Gated sensor fusion correctly suppressed false positives. TTC-based braking triggered only when genuinely required  CRITICAL state only 8% of total run time.</a:t>
            </a:r>
            <a:endParaRPr lang="en-US" sz="950" dirty="0"/>
          </a:p>
        </p:txBody>
      </p:sp>
      <p:sp>
        <p:nvSpPr>
          <p:cNvPr id="17" name="Text 9"/>
          <p:cNvSpPr/>
          <p:nvPr/>
        </p:nvSpPr>
        <p:spPr>
          <a:xfrm>
            <a:off x="8732520" y="489204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FA5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2286000" cy="31089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2 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88920" y="74980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Phase 2: Real Hardware Architecture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1783080" cy="1078992"/>
          </a:xfrm>
          <a:prstGeom prst="rect">
            <a:avLst/>
          </a:prstGeom>
          <a:solidFill>
            <a:srgbClr val="065A82"/>
          </a:solidFill>
          <a:ln w="889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28600" y="1234440"/>
            <a:ext cx="178308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01752" y="123444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LD06 LiDAR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" y="1545336"/>
            <a:ext cx="16367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LD06 @ 230400 baud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±20° FOV  •  47-byte packets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USB → Jetson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2395728"/>
            <a:ext cx="1783080" cy="1078992"/>
          </a:xfrm>
          <a:prstGeom prst="rect">
            <a:avLst/>
          </a:prstGeom>
          <a:solidFill>
            <a:srgbClr val="0A7EA4"/>
          </a:solidFill>
          <a:ln w="889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28600" y="2395728"/>
            <a:ext cx="178308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01752" y="2395728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IMX477 Camera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1752" y="2706624"/>
            <a:ext cx="163677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Arducam B0249  •  CSI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416×416 GStreamer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YOLOv8n CUDA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3547872"/>
            <a:ext cx="1783080" cy="932688"/>
          </a:xfrm>
          <a:prstGeom prst="rect">
            <a:avLst/>
          </a:prstGeom>
          <a:solidFill>
            <a:srgbClr val="4A6FA5"/>
          </a:solidFill>
          <a:ln w="889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28600" y="3547872"/>
            <a:ext cx="178308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01752" y="3547872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Pi 5 + BGT60TR13C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1752" y="3858768"/>
            <a:ext cx="163677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DreamHAT+ mmWave radar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Full FMCW FFT pipeline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011680" y="1856232"/>
            <a:ext cx="786384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2743200" y="179222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011680" y="3017520"/>
            <a:ext cx="786384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2743200" y="295351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011680" y="4096512"/>
            <a:ext cx="786384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2743200" y="403250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907792" y="1234440"/>
            <a:ext cx="2212848" cy="3246120"/>
          </a:xfrm>
          <a:prstGeom prst="rect">
            <a:avLst/>
          </a:prstGeom>
          <a:solidFill>
            <a:srgbClr val="4A6FA5"/>
          </a:solidFill>
          <a:ln w="889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2907792" y="1234440"/>
            <a:ext cx="2212848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2980944" y="1234440"/>
            <a:ext cx="2066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Jetson Orin Nano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980944" y="1545336"/>
            <a:ext cx="2066544" cy="2898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Primary AI node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LiDAR pipeline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Camera + YOLOv8n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Fusion logic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Digital twin layer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UDP → Arduino :5005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084832" y="3895344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0B4D8"/>
                </a:solidFill>
              </a:rPr>
              <a:t>UDP :9576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120640" y="2935224"/>
            <a:ext cx="713232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779008" y="287121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38928" y="2651760"/>
            <a:ext cx="80467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00B4D8"/>
                </a:solidFill>
              </a:rPr>
              <a:t>UDP :5005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943600" y="1234440"/>
            <a:ext cx="1664208" cy="3246120"/>
          </a:xfrm>
          <a:prstGeom prst="rect">
            <a:avLst/>
          </a:prstGeom>
          <a:solidFill>
            <a:srgbClr val="065A82"/>
          </a:solidFill>
          <a:ln w="889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5943600" y="1234440"/>
            <a:ext cx="1664208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6016752" y="123444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Arduino Uno R4 WiFi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16752" y="1545336"/>
            <a:ext cx="1517904" cy="2898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Motor control bridge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ESC: pin 9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Servo: pin 10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UDP :5005 → PWM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5V signal output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607808" y="2935224"/>
            <a:ext cx="402336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7955280" y="287121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B4D8"/>
                </a:solidFill>
              </a:rPr>
              <a:t>▶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119872" y="1234440"/>
            <a:ext cx="795528" cy="3246120"/>
          </a:xfrm>
          <a:prstGeom prst="rect">
            <a:avLst/>
          </a:prstGeom>
          <a:solidFill>
            <a:srgbClr val="0D1B2A"/>
          </a:solidFill>
          <a:ln w="889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8119872" y="1234440"/>
            <a:ext cx="795528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8193024" y="1234440"/>
            <a:ext cx="649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RC Car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193024" y="1545336"/>
            <a:ext cx="649224" cy="2898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ESC pin 9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Servo pin 10</a:t>
            </a:r>
            <a:endParaRPr lang="en-US" sz="9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E8F4F8"/>
                </a:solidFill>
              </a:rPr>
              <a:t>Motor drive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4700016"/>
            <a:ext cx="8458200" cy="347472"/>
          </a:xfrm>
          <a:prstGeom prst="rect">
            <a:avLst/>
          </a:prstGeom>
          <a:solidFill>
            <a:srgbClr val="065A82"/>
          </a:solidFill>
          <a:ln w="889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384048" y="470001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Key Engineering Finding: Jetson 3.3V GPIO insufficient for MSC-25RC ESC (needs 5V). Resolved by routing motor control through Arduino Uno R4 </a:t>
            </a:r>
            <a:r>
              <a:rPr lang="en-US" sz="900" dirty="0" err="1">
                <a:solidFill>
                  <a:srgbClr val="FFFFFF"/>
                </a:solidFill>
              </a:rPr>
              <a:t>WiFi</a:t>
            </a:r>
            <a:r>
              <a:rPr lang="en-US" sz="900" dirty="0">
                <a:solidFill>
                  <a:srgbClr val="FFFFFF"/>
                </a:solidFill>
              </a:rPr>
              <a:t>  outputs correct 5V PWM via Servo library.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732520" y="489204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AFC2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2286000" cy="31089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2 REAL HARDWARE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88920" y="74980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Hardware Platform Physical Build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2103120" cy="1627632"/>
          </a:xfrm>
          <a:prstGeom prst="rect">
            <a:avLst/>
          </a:prstGeom>
          <a:solidFill>
            <a:srgbClr val="0D2137"/>
          </a:solidFill>
          <a:ln w="6350">
            <a:solidFill>
              <a:srgbClr val="4A6FA5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2103120" cy="310896"/>
          </a:xfrm>
          <a:prstGeom prst="rect">
            <a:avLst/>
          </a:prstGeom>
          <a:solidFill>
            <a:srgbClr val="0D1B2A"/>
          </a:solidFill>
          <a:ln w="1016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84632" y="1234440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Maverick RC Chassis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60020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EAFC2"/>
                </a:solidFill>
              </a:rPr>
              <a:t>4WD, 8–12 kg payload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EAFC2"/>
                </a:solidFill>
              </a:rPr>
              <a:t>ESC: MSC-25RC (5V signal)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EAFC2"/>
                </a:solidFill>
              </a:rPr>
              <a:t>Steering servo  pin 10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79192" y="1234440"/>
            <a:ext cx="2103120" cy="1627632"/>
          </a:xfrm>
          <a:prstGeom prst="rect">
            <a:avLst/>
          </a:prstGeom>
          <a:solidFill>
            <a:srgbClr val="0D2137"/>
          </a:solidFill>
          <a:ln w="6350">
            <a:solidFill>
              <a:srgbClr val="4A6FA5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679192" y="1234440"/>
            <a:ext cx="2103120" cy="310896"/>
          </a:xfrm>
          <a:prstGeom prst="rect">
            <a:avLst/>
          </a:prstGeom>
          <a:solidFill>
            <a:srgbClr val="0D1B2A"/>
          </a:solidFill>
          <a:ln w="1016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752344" y="1234440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Jetson Orin Nano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70632" y="1600200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EAFC2"/>
                </a:solidFill>
              </a:rPr>
              <a:t>Primary AI node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EAFC2"/>
                </a:solidFill>
              </a:rPr>
              <a:t>LiDAR + Camera + Fusion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EAFC2"/>
                </a:solidFill>
              </a:rPr>
              <a:t>YOLOv8n on CUDA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953512"/>
            <a:ext cx="2103120" cy="1627632"/>
          </a:xfrm>
          <a:prstGeom prst="rect">
            <a:avLst/>
          </a:prstGeom>
          <a:solidFill>
            <a:srgbClr val="0D2137"/>
          </a:solidFill>
          <a:ln w="6350">
            <a:solidFill>
              <a:srgbClr val="4A6FA5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11480" y="2953512"/>
            <a:ext cx="2103120" cy="310896"/>
          </a:xfrm>
          <a:prstGeom prst="rect">
            <a:avLst/>
          </a:prstGeom>
          <a:solidFill>
            <a:srgbClr val="0D1B2A"/>
          </a:solidFill>
          <a:ln w="1016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84632" y="2953512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Raspberry Pi 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3319272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EAFC2"/>
                </a:solidFill>
              </a:rPr>
              <a:t>Secondary radar node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EAFC2"/>
                </a:solidFill>
              </a:rPr>
              <a:t>Full FMCW FFT pipeline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EAFC2"/>
                </a:solidFill>
              </a:rPr>
              <a:t>UDP → Jetson port 9576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79192" y="2953512"/>
            <a:ext cx="2103120" cy="1627632"/>
          </a:xfrm>
          <a:prstGeom prst="rect">
            <a:avLst/>
          </a:prstGeom>
          <a:solidFill>
            <a:srgbClr val="0D2137"/>
          </a:solidFill>
          <a:ln w="6350">
            <a:solidFill>
              <a:srgbClr val="4A6FA5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2679192" y="2953512"/>
            <a:ext cx="2103120" cy="310896"/>
          </a:xfrm>
          <a:prstGeom prst="rect">
            <a:avLst/>
          </a:prstGeom>
          <a:solidFill>
            <a:srgbClr val="0D1B2A"/>
          </a:solidFill>
          <a:ln w="1016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2752344" y="2953512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Arduino Uno R4 WiFi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70632" y="3319272"/>
            <a:ext cx="1920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EAFC2"/>
                </a:solidFill>
              </a:rPr>
              <a:t>Motor control bridge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EAFC2"/>
                </a:solidFill>
              </a:rPr>
              <a:t>ESC pin 9 / Servo pin 10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EAFC2"/>
                </a:solidFill>
              </a:rPr>
              <a:t>UDP 5005 → PWM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28032" y="1234440"/>
            <a:ext cx="1920240" cy="1572768"/>
          </a:xfrm>
          <a:prstGeom prst="rect">
            <a:avLst/>
          </a:prstGeom>
          <a:solidFill>
            <a:srgbClr val="0D2137"/>
          </a:solidFill>
          <a:ln w="635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3" name="Image 0" descr="/home/claude/imgs/chassi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824" y="1234440"/>
            <a:ext cx="770656" cy="1572768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6839712" y="1234440"/>
            <a:ext cx="1920240" cy="1572768"/>
          </a:xfrm>
          <a:prstGeom prst="rect">
            <a:avLst/>
          </a:prstGeom>
          <a:solidFill>
            <a:srgbClr val="0D2137"/>
          </a:solidFill>
          <a:ln w="635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5" name="Image 1" descr="/home/claude/imgs/lidarBe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0044" y="1234440"/>
            <a:ext cx="1179576" cy="1572768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4828032" y="2898648"/>
            <a:ext cx="1920240" cy="1572768"/>
          </a:xfrm>
          <a:prstGeom prst="rect">
            <a:avLst/>
          </a:prstGeom>
          <a:solidFill>
            <a:srgbClr val="0D2137"/>
          </a:solidFill>
          <a:ln w="635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7" name="Image 2" descr="/home/claude/imgs/piRad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8364" y="2898648"/>
            <a:ext cx="1179576" cy="1572768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6839712" y="2898648"/>
            <a:ext cx="1920240" cy="1572768"/>
          </a:xfrm>
          <a:prstGeom prst="rect">
            <a:avLst/>
          </a:prstGeom>
          <a:solidFill>
            <a:srgbClr val="0D2137"/>
          </a:solidFill>
          <a:ln w="635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9" name="Image 3" descr="/home/claude/imgs/came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0044" y="2898648"/>
            <a:ext cx="1179576" cy="1572768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411480" y="4626864"/>
            <a:ext cx="8321040" cy="420624"/>
          </a:xfrm>
          <a:prstGeom prst="rect">
            <a:avLst/>
          </a:prstGeom>
          <a:solidFill>
            <a:srgbClr val="065A82"/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5"/>
          <p:cNvSpPr/>
          <p:nvPr/>
        </p:nvSpPr>
        <p:spPr>
          <a:xfrm>
            <a:off x="530352" y="4626864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Key Finding: Jetson 3.3V GPIO insufficient to drive MSC-25RC ESC (5V required). Resolved by routing motor control through Arduino Uno R4 WiFi.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8732520" y="489204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AFC2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749808"/>
            <a:ext cx="2286000" cy="31089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11480" y="7498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2  SENSOR PIPELINES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88920" y="74980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</a:rPr>
              <a:t>LiDAR, Radar &amp; Camera Pipelines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2606040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84632" y="1234440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LD06 LiDAR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4632" y="1618488"/>
            <a:ext cx="2496312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2C4A6E"/>
                </a:solidFill>
              </a:rPr>
              <a:t>47-byte packets @ 230400 baud</a:t>
            </a:r>
            <a:endParaRPr lang="en-US" sz="9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2C4A6E"/>
                </a:solidFill>
              </a:rPr>
              <a:t>Zero-degree offset fix applied</a:t>
            </a:r>
            <a:endParaRPr lang="en-US" sz="9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2C4A6E"/>
                </a:solidFill>
              </a:rPr>
              <a:t>FOV cut to ±20° forward only</a:t>
            </a:r>
            <a:endParaRPr lang="en-US" sz="9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2C4A6E"/>
                </a:solidFill>
              </a:rPr>
              <a:t>20cm minimum distance floor</a:t>
            </a:r>
            <a:endParaRPr lang="en-US" sz="9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2C4A6E"/>
                </a:solidFill>
              </a:rPr>
              <a:t>Min-points/zone threshold (scales with distance)</a:t>
            </a:r>
            <a:endParaRPr lang="en-US" sz="9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2C4A6E"/>
                </a:solidFill>
              </a:rPr>
              <a:t>Persistence: raise 3 frames, clear 4 frames</a:t>
            </a:r>
            <a:endParaRPr lang="en-US" sz="9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2C4A6E"/>
                </a:solidFill>
              </a:rPr>
              <a:t>Degraded: 0 forward pts for 15+ frames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3703320"/>
            <a:ext cx="2606040" cy="1307592"/>
          </a:xfrm>
          <a:prstGeom prst="rect">
            <a:avLst/>
          </a:prstGeom>
          <a:solidFill>
            <a:srgbClr val="0D1B2A"/>
          </a:solidFill>
          <a:ln w="635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0" descr="/home/claude/imgs/lidarG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3754" y="3703320"/>
            <a:ext cx="601492" cy="13075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5029200"/>
            <a:ext cx="2606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2C4A6E"/>
                </a:solidFill>
              </a:rPr>
              <a:t>LiDAR corridor — live bench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127248" y="1234440"/>
            <a:ext cx="2606040" cy="329184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3200400" y="1234440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BGT60TR13C Radar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00400" y="1618488"/>
            <a:ext cx="2496312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2C4A6E"/>
                </a:solidFill>
              </a:rPr>
              <a:t>(3 RX, 64 chirps, 128 samples) per frame</a:t>
            </a:r>
            <a:endParaRPr lang="en-US" sz="9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2C4A6E"/>
                </a:solidFill>
              </a:rPr>
              <a:t>Range FFT → Doppler FFT → Angle FFT</a:t>
            </a:r>
            <a:endParaRPr lang="en-US" sz="9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2C4A6E"/>
                </a:solidFill>
              </a:rPr>
              <a:t>MTI clutter suppression (coeff 0.92)</a:t>
            </a:r>
            <a:endParaRPr lang="en-US" sz="9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2C4A6E"/>
                </a:solidFill>
              </a:rPr>
              <a:t>CFAR detection at 16 dB threshold</a:t>
            </a:r>
            <a:endParaRPr lang="en-US" sz="9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2C4A6E"/>
                </a:solidFill>
              </a:rPr>
              <a:t>Nearest-neighbour tracker, 3-frame confirm</a:t>
            </a:r>
            <a:endParaRPr lang="en-US" sz="9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2C4A6E"/>
                </a:solidFill>
              </a:rPr>
              <a:t>Approach gate: 3 consecutive neg-velocity frames</a:t>
            </a:r>
            <a:endParaRPr lang="en-US" sz="9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2C4A6E"/>
                </a:solidFill>
              </a:rPr>
              <a:t>TTC: IMMINENT &lt;1.5s | CAUTION &lt;3s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127248" y="3703320"/>
            <a:ext cx="2606040" cy="1307592"/>
          </a:xfrm>
          <a:prstGeom prst="rect">
            <a:avLst/>
          </a:prstGeom>
          <a:solidFill>
            <a:srgbClr val="0D1B2A"/>
          </a:solidFill>
          <a:ln w="635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5" name="Image 1" descr="/home/claude/imgs/radarGU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522" y="3703320"/>
            <a:ext cx="601492" cy="13075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127248" y="5029200"/>
            <a:ext cx="2606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2C4A6E"/>
                </a:solidFill>
              </a:rPr>
              <a:t>Radar range-velocity  live bench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5833872" y="1234440"/>
            <a:ext cx="2606040" cy="329184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4"/>
          <p:cNvSpPr/>
          <p:nvPr/>
        </p:nvSpPr>
        <p:spPr>
          <a:xfrm>
            <a:off x="5907024" y="1234440"/>
            <a:ext cx="24597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IMX477 + YOLOv8n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907024" y="1618488"/>
            <a:ext cx="2496312" cy="2029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2C4A6E"/>
                </a:solidFill>
              </a:rPr>
              <a:t>GStreamer CSI → 416×416 hardware resize</a:t>
            </a:r>
            <a:endParaRPr lang="en-US" sz="9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2C4A6E"/>
                </a:solidFill>
              </a:rPr>
              <a:t>Custom NVIDIA PyTorch + torchvision mock</a:t>
            </a:r>
            <a:endParaRPr lang="en-US" sz="9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2C4A6E"/>
                </a:solidFill>
              </a:rPr>
              <a:t>Inference every 2nd frame (GPU load halved)</a:t>
            </a:r>
            <a:endParaRPr lang="en-US" sz="9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2C4A6E"/>
                </a:solidFill>
              </a:rPr>
              <a:t>Forward zone: centre 40% of frame width</a:t>
            </a:r>
            <a:endParaRPr lang="en-US" sz="9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2C4A6E"/>
                </a:solidFill>
              </a:rPr>
              <a:t>Bounding-box height → monocular distance</a:t>
            </a:r>
            <a:endParaRPr lang="en-US" sz="9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2C4A6E"/>
                </a:solidFill>
              </a:rPr>
              <a:t>Mean brightness &lt;40 → degraded, cleared</a:t>
            </a:r>
            <a:endParaRPr lang="en-US" sz="900" dirty="0"/>
          </a:p>
          <a:p>
            <a:pPr marL="342900" indent="-34290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2C4A6E"/>
                </a:solidFill>
              </a:rPr>
              <a:t>Cross-validation gating with LiDAR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833872" y="3703320"/>
            <a:ext cx="2606040" cy="1307592"/>
          </a:xfrm>
          <a:prstGeom prst="rect">
            <a:avLst/>
          </a:prstGeom>
          <a:solidFill>
            <a:srgbClr val="0D1B2A"/>
          </a:solidFill>
          <a:ln w="635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1" name="Image 2" descr="/home/claude/imgs/came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6545" y="3703320"/>
            <a:ext cx="980694" cy="130759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833872" y="5029200"/>
            <a:ext cx="2606040" cy="118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2C4A6E"/>
                </a:solidFill>
              </a:rPr>
              <a:t>Arducam IMX477 on Jetson</a:t>
            </a:r>
            <a:endParaRPr lang="en-US" sz="750" dirty="0"/>
          </a:p>
        </p:txBody>
      </p:sp>
      <p:sp>
        <p:nvSpPr>
          <p:cNvPr id="23" name="Text 18"/>
          <p:cNvSpPr/>
          <p:nvPr/>
        </p:nvSpPr>
        <p:spPr>
          <a:xfrm>
            <a:off x="8732520" y="489204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4A6FA5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411480" y="749808"/>
            <a:ext cx="2286000" cy="310896"/>
          </a:xfrm>
          <a:prstGeom prst="rect">
            <a:avLst/>
          </a:prstGeom>
          <a:solidFill>
            <a:srgbClr val="0A7EA4"/>
          </a:solidFill>
          <a:ln w="1270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PHASE 2  FUSION &amp; NAVIGATION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788920" y="749808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Sensor Fusion &amp; Autonomous Navigation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1243584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Fusion Decision Logic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313433"/>
              </p:ext>
            </p:extLst>
          </p:nvPr>
        </p:nvGraphicFramePr>
        <p:xfrm>
          <a:off x="411480" y="1508760"/>
          <a:ext cx="4206240" cy="13716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LiDAR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Camera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Sees object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Confirms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CONFIRMED  alert raised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Sees object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Nothing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CAUTION  no Camera Data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Nothing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Sees object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CAUTION  no range data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Nothing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Nothing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</a:rPr>
                        <a:t>SAFE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3145536"/>
            <a:ext cx="4206240" cy="877824"/>
          </a:xfrm>
          <a:prstGeom prst="rect">
            <a:avLst/>
          </a:prstGeom>
          <a:solidFill>
            <a:srgbClr val="0D2137"/>
          </a:solidFill>
          <a:ln w="1016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530352" y="320040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Sensor Health Monitor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30352" y="3456432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EAFC2"/>
                </a:solidFill>
              </a:rPr>
              <a:t>Disconnected vs Degraded handled differently. LiDAR+Camera both impaired → floors at CAUTION. Never silently returns SAFE when blind on 2 of 3 sensors.</a:t>
            </a:r>
            <a:endParaRPr lang="en-US" sz="950" dirty="0"/>
          </a:p>
        </p:txBody>
      </p:sp>
      <p:pic>
        <p:nvPicPr>
          <p:cNvPr id="11" name="Image 0" descr="/home/claude/imgs/fusion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524" y="4096512"/>
            <a:ext cx="1216152" cy="914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28032" y="1243584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Reactive Obstacle Avoidance</a:t>
            </a:r>
            <a:endParaRPr lang="en-US" sz="1200" dirty="0"/>
          </a:p>
        </p:txBody>
      </p:sp>
      <p:sp>
        <p:nvSpPr>
          <p:cNvPr id="7" name="Shape 9"/>
          <p:cNvSpPr/>
          <p:nvPr/>
        </p:nvSpPr>
        <p:spPr>
          <a:xfrm>
            <a:off x="4828032" y="1517904"/>
            <a:ext cx="3913632" cy="493776"/>
          </a:xfrm>
          <a:prstGeom prst="rect">
            <a:avLst/>
          </a:prstGeom>
          <a:solidFill>
            <a:srgbClr val="0D2137"/>
          </a:solidFill>
          <a:ln w="635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hape 10"/>
          <p:cNvSpPr/>
          <p:nvPr/>
        </p:nvSpPr>
        <p:spPr>
          <a:xfrm>
            <a:off x="4828032" y="1517904"/>
            <a:ext cx="64008" cy="493776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1"/>
          <p:cNvSpPr/>
          <p:nvPr/>
        </p:nvSpPr>
        <p:spPr>
          <a:xfrm>
            <a:off x="4992624" y="1517904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SAFE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080760" y="1517904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Drive forward  ESC 1700µs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828032" y="2084832"/>
            <a:ext cx="3913632" cy="493776"/>
          </a:xfrm>
          <a:prstGeom prst="rect">
            <a:avLst/>
          </a:prstGeom>
          <a:solidFill>
            <a:srgbClr val="0D2137"/>
          </a:solidFill>
          <a:ln w="635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4"/>
          <p:cNvSpPr/>
          <p:nvPr/>
        </p:nvSpPr>
        <p:spPr>
          <a:xfrm>
            <a:off x="4828032" y="2084832"/>
            <a:ext cx="64008" cy="4937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5"/>
          <p:cNvSpPr/>
          <p:nvPr/>
        </p:nvSpPr>
        <p:spPr>
          <a:xfrm>
            <a:off x="4992624" y="2084832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CAUTION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080760" y="2084832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Slow down  ESC 1570µs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828032" y="2651760"/>
            <a:ext cx="3913632" cy="493776"/>
          </a:xfrm>
          <a:prstGeom prst="rect">
            <a:avLst/>
          </a:prstGeom>
          <a:solidFill>
            <a:srgbClr val="0D2137"/>
          </a:solidFill>
          <a:ln w="635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8"/>
          <p:cNvSpPr/>
          <p:nvPr/>
        </p:nvSpPr>
        <p:spPr>
          <a:xfrm>
            <a:off x="4828032" y="2651760"/>
            <a:ext cx="64008" cy="4937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19"/>
          <p:cNvSpPr/>
          <p:nvPr/>
        </p:nvSpPr>
        <p:spPr>
          <a:xfrm>
            <a:off x="4992624" y="2651760"/>
            <a:ext cx="1051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IMMINENT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080760" y="2651760"/>
            <a:ext cx="257860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8"/>
                </a:solidFill>
              </a:rPr>
              <a:t>Full stop  ESC neutral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828032" y="3255264"/>
            <a:ext cx="39136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00" i="1" dirty="0">
                <a:solidFill>
                  <a:srgbClr val="8EAFC2"/>
                </a:solidFill>
              </a:rPr>
              <a:t>LiDAR zones (left/centre/right) steer away from detected obstacle. Re-centres once zone clears for 4+ consecutive frames.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828032" y="3803904"/>
            <a:ext cx="3913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Control Chain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828032" y="4078224"/>
            <a:ext cx="3913632" cy="164592"/>
          </a:xfrm>
          <a:prstGeom prst="rect">
            <a:avLst/>
          </a:prstGeom>
          <a:solidFill>
            <a:srgbClr val="0D1B2A"/>
          </a:solidFill>
          <a:ln w="381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4"/>
          <p:cNvSpPr/>
          <p:nvPr/>
        </p:nvSpPr>
        <p:spPr>
          <a:xfrm>
            <a:off x="4901184" y="407822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1. Fusion GUI (Jetson)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828032" y="4261104"/>
            <a:ext cx="3913632" cy="164592"/>
          </a:xfrm>
          <a:prstGeom prst="rect">
            <a:avLst/>
          </a:prstGeom>
          <a:solidFill>
            <a:srgbClr val="065A82"/>
          </a:solidFill>
          <a:ln w="381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6"/>
          <p:cNvSpPr/>
          <p:nvPr/>
        </p:nvSpPr>
        <p:spPr>
          <a:xfrm>
            <a:off x="4901184" y="426110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2. LiDAR Zone Analysis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4828032" y="4443984"/>
            <a:ext cx="3913632" cy="164592"/>
          </a:xfrm>
          <a:prstGeom prst="rect">
            <a:avLst/>
          </a:prstGeom>
          <a:solidFill>
            <a:srgbClr val="0D1B2A"/>
          </a:solidFill>
          <a:ln w="381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8"/>
          <p:cNvSpPr/>
          <p:nvPr/>
        </p:nvSpPr>
        <p:spPr>
          <a:xfrm>
            <a:off x="4901184" y="444398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3. UDP → Arduino Uno R4 WiFi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4828032" y="4626864"/>
            <a:ext cx="3913632" cy="164592"/>
          </a:xfrm>
          <a:prstGeom prst="rect">
            <a:avLst/>
          </a:prstGeom>
          <a:solidFill>
            <a:srgbClr val="065A82"/>
          </a:solidFill>
          <a:ln w="381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0"/>
          <p:cNvSpPr/>
          <p:nvPr/>
        </p:nvSpPr>
        <p:spPr>
          <a:xfrm>
            <a:off x="4901184" y="462686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4. ESC (pin 9) + Servo (pin 10)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4828032" y="4809744"/>
            <a:ext cx="3913632" cy="164592"/>
          </a:xfrm>
          <a:prstGeom prst="rect">
            <a:avLst/>
          </a:prstGeom>
          <a:solidFill>
            <a:srgbClr val="0D1B2A"/>
          </a:solidFill>
          <a:ln w="3810">
            <a:solidFill>
              <a:srgbClr val="0A7EA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2"/>
          <p:cNvSpPr/>
          <p:nvPr/>
        </p:nvSpPr>
        <p:spPr>
          <a:xfrm>
            <a:off x="4901184" y="480974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5. RC Car Motion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8732520" y="489204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AFC2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663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B4D8"/>
                </a:solidFill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883664"/>
            <a:ext cx="3474720" cy="3657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7200" y="1993392"/>
            <a:ext cx="42062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Raffay Hassan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EAFC2"/>
                </a:solidFill>
              </a:rPr>
              <a:t>BEng Computer Systems Engineering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EAFC2"/>
                </a:solidFill>
              </a:rPr>
              <a:t>Middlesex University London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EAFC2"/>
                </a:solidFill>
              </a:rPr>
              <a:t>Supervisor: Dr Purav Shah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00B4D8"/>
                </a:solidFill>
              </a:rPr>
              <a:t>rh960@live.mdx.ac.uk</a:t>
            </a:r>
            <a:endParaRPr lang="en-US" sz="1300" dirty="0"/>
          </a:p>
        </p:txBody>
      </p:sp>
      <p:pic>
        <p:nvPicPr>
          <p:cNvPr id="8" name="Image 0" descr="/home/claude/imgs/fusion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5582" y="411480"/>
            <a:ext cx="3161995" cy="2377440"/>
          </a:xfrm>
          <a:prstGeom prst="rect">
            <a:avLst/>
          </a:prstGeom>
        </p:spPr>
      </p:pic>
      <p:pic>
        <p:nvPicPr>
          <p:cNvPr id="9" name="Image 1" descr="/home/claude/imgs/rcC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6004" y="2823210"/>
            <a:ext cx="1659636" cy="22128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43159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8EAFC2"/>
                </a:solidFill>
              </a:rPr>
              <a:t>Sensor-Driven Digital Twin Framework for Collision Prevention in Autonomous Systems  |  PDE3823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8732520" y="489204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EAFC2"/>
                </a:solidFill>
              </a:rPr>
              <a:t>13</a:t>
            </a:r>
            <a:endParaRPr lang="en-US" sz="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CA0F92-A2F5-7A9D-BA15-1811FE1739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6602" y="2823210"/>
            <a:ext cx="3304084" cy="11417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</TotalTime>
  <Words>1611</Words>
  <Application>Microsoft Office PowerPoint</Application>
  <PresentationFormat>On-screen Show (16:9)</PresentationFormat>
  <Paragraphs>306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Sensor-Driven Digital Twin Framework for Collision Prevention</dc:title>
  <dc:subject>PptxGenJS Presentation</dc:subject>
  <dc:creator>Raffay Hassan</dc:creator>
  <cp:lastModifiedBy>Raffay hassan</cp:lastModifiedBy>
  <cp:revision>3</cp:revision>
  <dcterms:created xsi:type="dcterms:W3CDTF">2026-03-19T10:25:50Z</dcterms:created>
  <dcterms:modified xsi:type="dcterms:W3CDTF">2026-03-19T17:22:20Z</dcterms:modified>
</cp:coreProperties>
</file>